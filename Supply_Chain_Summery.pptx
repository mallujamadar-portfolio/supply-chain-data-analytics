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C94CA-7092-84D1-0B08-87B1BF0B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91" y="1388534"/>
            <a:ext cx="4418550" cy="1371600"/>
          </a:xfrm>
        </p:spPr>
        <p:txBody>
          <a:bodyPr>
            <a:noAutofit/>
          </a:bodyPr>
          <a:lstStyle/>
          <a:p>
            <a:pPr algn="l"/>
            <a:r>
              <a:rPr lang="en-IN" sz="4400" b="1" dirty="0"/>
              <a:t>Supply Chain Analytics Project</a:t>
            </a:r>
            <a:endParaRPr lang="en-IN" sz="4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99526C-6194-01F3-DCCF-74C9E0EC2F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3592" y="4859861"/>
            <a:ext cx="4222086" cy="1142733"/>
          </a:xfrm>
        </p:spPr>
        <p:txBody>
          <a:bodyPr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400" b="1" dirty="0"/>
              <a:t>Perpared by : Mallikarjun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2600" b="1" dirty="0"/>
              <a:t>Date : June 2026</a:t>
            </a:r>
          </a:p>
        </p:txBody>
      </p:sp>
      <p:pic>
        <p:nvPicPr>
          <p:cNvPr id="1032" name="Picture 8" descr="Supply chain Images - Free Download on Magnific (formerly Freepik)">
            <a:extLst>
              <a:ext uri="{FF2B5EF4-FFF2-40B4-BE49-F238E27FC236}">
                <a16:creationId xmlns:a16="http://schemas.microsoft.com/office/drawing/2014/main" id="{50B4446C-8AF5-5105-BA72-01358A333E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2141" y="982663"/>
            <a:ext cx="5442518" cy="489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7912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B0AA4B-F9DE-470C-BC34-6370DC991D27}"/>
              </a:ext>
            </a:extLst>
          </p:cNvPr>
          <p:cNvSpPr/>
          <p:nvPr/>
        </p:nvSpPr>
        <p:spPr>
          <a:xfrm>
            <a:off x="1435509" y="870157"/>
            <a:ext cx="9320981" cy="130386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Contents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5A6FF-8E30-9164-C1CB-153BA05686E3}"/>
              </a:ext>
            </a:extLst>
          </p:cNvPr>
          <p:cNvSpPr txBox="1"/>
          <p:nvPr/>
        </p:nvSpPr>
        <p:spPr>
          <a:xfrm>
            <a:off x="1873044" y="2378336"/>
            <a:ext cx="6725265" cy="3742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B050"/>
              </a:buClr>
              <a:buFont typeface="+mj-lt"/>
              <a:buAutoNum type="arabicPeriod"/>
            </a:pPr>
            <a:r>
              <a:rPr lang="en-IN" sz="2000" b="1" dirty="0"/>
              <a:t>Overview</a:t>
            </a:r>
          </a:p>
          <a:p>
            <a:pPr marL="457200" indent="-457200">
              <a:lnSpc>
                <a:spcPct val="150000"/>
              </a:lnSpc>
              <a:buClr>
                <a:srgbClr val="00B050"/>
              </a:buClr>
              <a:buFont typeface="+mj-lt"/>
              <a:buAutoNum type="arabicPeriod"/>
            </a:pPr>
            <a:r>
              <a:rPr lang="en-IN" sz="2000" b="1" dirty="0"/>
              <a:t>Business Objective </a:t>
            </a:r>
          </a:p>
          <a:p>
            <a:pPr marL="457200" indent="-457200">
              <a:lnSpc>
                <a:spcPct val="150000"/>
              </a:lnSpc>
              <a:buClr>
                <a:srgbClr val="00B050"/>
              </a:buClr>
              <a:buFont typeface="+mj-lt"/>
              <a:buAutoNum type="arabicPeriod"/>
            </a:pPr>
            <a:r>
              <a:rPr lang="en-IN" sz="2000" b="1" dirty="0"/>
              <a:t>Data Sources</a:t>
            </a:r>
          </a:p>
          <a:p>
            <a:pPr marL="457200" indent="-457200">
              <a:lnSpc>
                <a:spcPct val="150000"/>
              </a:lnSpc>
              <a:buClr>
                <a:srgbClr val="00B050"/>
              </a:buClr>
              <a:buFont typeface="+mj-lt"/>
              <a:buAutoNum type="arabicPeriod"/>
            </a:pPr>
            <a:r>
              <a:rPr lang="en-IN" sz="2000" b="1" dirty="0"/>
              <a:t>List of KPI’S</a:t>
            </a:r>
          </a:p>
          <a:p>
            <a:pPr marL="457200" indent="-457200">
              <a:lnSpc>
                <a:spcPct val="150000"/>
              </a:lnSpc>
              <a:buClr>
                <a:srgbClr val="00B050"/>
              </a:buClr>
              <a:buFont typeface="+mj-lt"/>
              <a:buAutoNum type="arabicPeriod"/>
            </a:pPr>
            <a:r>
              <a:rPr lang="en-IN" sz="2000" b="1" dirty="0"/>
              <a:t>Dashboard</a:t>
            </a:r>
          </a:p>
          <a:p>
            <a:pPr marL="457200" indent="-457200">
              <a:lnSpc>
                <a:spcPct val="150000"/>
              </a:lnSpc>
              <a:buClr>
                <a:srgbClr val="00B050"/>
              </a:buClr>
              <a:buFont typeface="+mj-lt"/>
              <a:buAutoNum type="arabicPeriod"/>
            </a:pPr>
            <a:r>
              <a:rPr lang="en-IN" sz="2000" b="1" dirty="0"/>
              <a:t>Insights</a:t>
            </a:r>
          </a:p>
          <a:p>
            <a:pPr marL="457200" indent="-457200">
              <a:lnSpc>
                <a:spcPct val="150000"/>
              </a:lnSpc>
              <a:buClr>
                <a:srgbClr val="00B050"/>
              </a:buClr>
              <a:buFont typeface="+mj-lt"/>
              <a:buAutoNum type="arabicPeriod"/>
            </a:pPr>
            <a:r>
              <a:rPr lang="en-IN" sz="2000" b="1" dirty="0"/>
              <a:t>Recommendations</a:t>
            </a:r>
          </a:p>
          <a:p>
            <a:pPr marL="457200" indent="-457200">
              <a:lnSpc>
                <a:spcPct val="150000"/>
              </a:lnSpc>
              <a:buClr>
                <a:srgbClr val="00B050"/>
              </a:buClr>
              <a:buFont typeface="+mj-lt"/>
              <a:buAutoNum type="arabicPeriod"/>
            </a:pPr>
            <a:r>
              <a:rPr lang="en-IN" sz="20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827040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2,111,800+ Supply Chain Stock Photos, Pictures &amp; Royalty-Free Images - iStock">
            <a:extLst>
              <a:ext uri="{FF2B5EF4-FFF2-40B4-BE49-F238E27FC236}">
                <a16:creationId xmlns:a16="http://schemas.microsoft.com/office/drawing/2014/main" id="{1AB71CF1-FD21-D60A-E565-D58E0A8CB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455725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D47F28-67CE-EC11-9892-191EE77EDAD9}"/>
              </a:ext>
            </a:extLst>
          </p:cNvPr>
          <p:cNvSpPr txBox="1"/>
          <p:nvPr/>
        </p:nvSpPr>
        <p:spPr>
          <a:xfrm>
            <a:off x="6213987" y="825910"/>
            <a:ext cx="33872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Bahnschrift SemiBold" panose="020B0502040204020203" pitchFamily="34" charset="0"/>
              </a:rPr>
              <a:t>Project Overview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CFEBDF-695E-8855-586C-E370EEBA89AA}"/>
              </a:ext>
            </a:extLst>
          </p:cNvPr>
          <p:cNvSpPr/>
          <p:nvPr/>
        </p:nvSpPr>
        <p:spPr>
          <a:xfrm>
            <a:off x="4866969" y="1778288"/>
            <a:ext cx="6459792" cy="10913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ACFCE6-F459-65ED-89D2-3D7226571074}"/>
              </a:ext>
            </a:extLst>
          </p:cNvPr>
          <p:cNvSpPr/>
          <p:nvPr/>
        </p:nvSpPr>
        <p:spPr>
          <a:xfrm>
            <a:off x="4866969" y="3266767"/>
            <a:ext cx="6459792" cy="10913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9F5848-CED4-627B-8273-05DD03E553BD}"/>
              </a:ext>
            </a:extLst>
          </p:cNvPr>
          <p:cNvSpPr/>
          <p:nvPr/>
        </p:nvSpPr>
        <p:spPr>
          <a:xfrm>
            <a:off x="4866969" y="4755246"/>
            <a:ext cx="6459792" cy="10913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3427DB-D474-989F-B93A-A538E0BD8184}"/>
              </a:ext>
            </a:extLst>
          </p:cNvPr>
          <p:cNvSpPr/>
          <p:nvPr/>
        </p:nvSpPr>
        <p:spPr>
          <a:xfrm>
            <a:off x="5048865" y="1914155"/>
            <a:ext cx="1165122" cy="849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7FFF4D-8490-DE58-0F9A-227BD1A39775}"/>
              </a:ext>
            </a:extLst>
          </p:cNvPr>
          <p:cNvSpPr/>
          <p:nvPr/>
        </p:nvSpPr>
        <p:spPr>
          <a:xfrm>
            <a:off x="5075904" y="3387887"/>
            <a:ext cx="1165122" cy="849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C2DD8F-34B5-A1AF-7F73-C528E4D32908}"/>
              </a:ext>
            </a:extLst>
          </p:cNvPr>
          <p:cNvSpPr/>
          <p:nvPr/>
        </p:nvSpPr>
        <p:spPr>
          <a:xfrm>
            <a:off x="5075904" y="4876366"/>
            <a:ext cx="1165122" cy="849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DC271B-6524-C45E-050E-78D64DC83509}"/>
              </a:ext>
            </a:extLst>
          </p:cNvPr>
          <p:cNvSpPr txBox="1"/>
          <p:nvPr/>
        </p:nvSpPr>
        <p:spPr>
          <a:xfrm>
            <a:off x="6668729" y="2015559"/>
            <a:ext cx="4203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Goal is Improve supply  chain performance and efficiency.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33B75B-E56D-085D-26ED-4EE71F40683E}"/>
              </a:ext>
            </a:extLst>
          </p:cNvPr>
          <p:cNvSpPr txBox="1"/>
          <p:nvPr/>
        </p:nvSpPr>
        <p:spPr>
          <a:xfrm>
            <a:off x="6623255" y="3436374"/>
            <a:ext cx="4321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Focus on Orders,Inventory,Suppliers, Logistics &amp; Delivery.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21B574-EA67-40BD-B2A9-6F061BF2D16C}"/>
              </a:ext>
            </a:extLst>
          </p:cNvPr>
          <p:cNvSpPr txBox="1"/>
          <p:nvPr/>
        </p:nvSpPr>
        <p:spPr>
          <a:xfrm>
            <a:off x="6623254" y="4843736"/>
            <a:ext cx="4321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Outcome is Interactive dashboard for better business decisions.</a:t>
            </a:r>
          </a:p>
        </p:txBody>
      </p:sp>
      <p:pic>
        <p:nvPicPr>
          <p:cNvPr id="2060" name="Picture 12" descr="Target ">
            <a:extLst>
              <a:ext uri="{FF2B5EF4-FFF2-40B4-BE49-F238E27FC236}">
                <a16:creationId xmlns:a16="http://schemas.microsoft.com/office/drawing/2014/main" id="{3A1A04CA-2BD3-EAC9-F5FF-0EA024BDE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651" y="1973746"/>
            <a:ext cx="789549" cy="789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Focus">
            <a:extLst>
              <a:ext uri="{FF2B5EF4-FFF2-40B4-BE49-F238E27FC236}">
                <a16:creationId xmlns:a16="http://schemas.microsoft.com/office/drawing/2014/main" id="{0B3E4372-38DC-DBC2-807A-1B11EDB88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6556" y="3417384"/>
            <a:ext cx="819643" cy="819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Outcome ">
            <a:extLst>
              <a:ext uri="{FF2B5EF4-FFF2-40B4-BE49-F238E27FC236}">
                <a16:creationId xmlns:a16="http://schemas.microsoft.com/office/drawing/2014/main" id="{3CA30775-E9B3-F678-9E86-566960DDD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612" y="4960855"/>
            <a:ext cx="887626" cy="764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0654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6EF38-78F6-AC10-8245-7DF9B1A0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Bahnschrift SemiBold SemiConden" panose="020B0502040204020203" pitchFamily="34" charset="0"/>
              </a:rPr>
              <a:t>Business</a:t>
            </a:r>
            <a:r>
              <a:rPr lang="en-IN" b="1" dirty="0"/>
              <a:t> Objective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CD8066-7B7E-3A00-BF2F-9D6442E8A3A6}"/>
              </a:ext>
            </a:extLst>
          </p:cNvPr>
          <p:cNvSpPr/>
          <p:nvPr/>
        </p:nvSpPr>
        <p:spPr>
          <a:xfrm>
            <a:off x="1445342" y="2559953"/>
            <a:ext cx="9451255" cy="10091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BA4922-B874-CC43-36C0-EF93ECD880D0}"/>
              </a:ext>
            </a:extLst>
          </p:cNvPr>
          <p:cNvSpPr/>
          <p:nvPr/>
        </p:nvSpPr>
        <p:spPr>
          <a:xfrm>
            <a:off x="1445341" y="3742282"/>
            <a:ext cx="9451255" cy="10091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E84C90-7E4F-5D07-000B-7E662ABD1F68}"/>
              </a:ext>
            </a:extLst>
          </p:cNvPr>
          <p:cNvSpPr/>
          <p:nvPr/>
        </p:nvSpPr>
        <p:spPr>
          <a:xfrm>
            <a:off x="1445341" y="4924612"/>
            <a:ext cx="9451255" cy="10091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8559BC-0410-91EF-9B61-A477FB33BC51}"/>
              </a:ext>
            </a:extLst>
          </p:cNvPr>
          <p:cNvSpPr/>
          <p:nvPr/>
        </p:nvSpPr>
        <p:spPr>
          <a:xfrm>
            <a:off x="1445341" y="2559952"/>
            <a:ext cx="1961536" cy="10091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63BB40-C21A-FE03-176F-03942B663F6C}"/>
              </a:ext>
            </a:extLst>
          </p:cNvPr>
          <p:cNvSpPr/>
          <p:nvPr/>
        </p:nvSpPr>
        <p:spPr>
          <a:xfrm>
            <a:off x="1445341" y="3742282"/>
            <a:ext cx="1961536" cy="10091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BB2332-1631-AF79-C979-85A00911A68D}"/>
              </a:ext>
            </a:extLst>
          </p:cNvPr>
          <p:cNvSpPr/>
          <p:nvPr/>
        </p:nvSpPr>
        <p:spPr>
          <a:xfrm>
            <a:off x="1445341" y="4924612"/>
            <a:ext cx="1961536" cy="10091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23ABB3-C70B-75D8-8F4D-02C5FEA4B608}"/>
              </a:ext>
            </a:extLst>
          </p:cNvPr>
          <p:cNvSpPr txBox="1"/>
          <p:nvPr/>
        </p:nvSpPr>
        <p:spPr>
          <a:xfrm>
            <a:off x="1445341" y="2829474"/>
            <a:ext cx="196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Understand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75775D-A11C-49A8-83A7-0E9A4AF1CD48}"/>
              </a:ext>
            </a:extLst>
          </p:cNvPr>
          <p:cNvSpPr txBox="1"/>
          <p:nvPr/>
        </p:nvSpPr>
        <p:spPr>
          <a:xfrm>
            <a:off x="1445341" y="4062194"/>
            <a:ext cx="1895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Monito</a:t>
            </a:r>
            <a:r>
              <a:rPr lang="en-IN" b="1" dirty="0">
                <a:solidFill>
                  <a:schemeClr val="bg1"/>
                </a:solidFill>
              </a:rPr>
              <a:t>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C4DF12-7B7D-83D7-FBD4-3BFC09BDD14D}"/>
              </a:ext>
            </a:extLst>
          </p:cNvPr>
          <p:cNvSpPr txBox="1"/>
          <p:nvPr/>
        </p:nvSpPr>
        <p:spPr>
          <a:xfrm>
            <a:off x="1445341" y="5244524"/>
            <a:ext cx="1740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</a:rPr>
              <a:t>Optimize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C97355-4C4F-00F7-BB22-499789841306}"/>
              </a:ext>
            </a:extLst>
          </p:cNvPr>
          <p:cNvSpPr txBox="1"/>
          <p:nvPr/>
        </p:nvSpPr>
        <p:spPr>
          <a:xfrm>
            <a:off x="3548214" y="2875640"/>
            <a:ext cx="7207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Understand order, inventory, and supplier performance.</a:t>
            </a:r>
            <a:endParaRPr lang="en-IN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644304-F621-FC89-4E32-F566CCFEC15F}"/>
              </a:ext>
            </a:extLst>
          </p:cNvPr>
          <p:cNvSpPr txBox="1"/>
          <p:nvPr/>
        </p:nvSpPr>
        <p:spPr>
          <a:xfrm flipH="1">
            <a:off x="3548212" y="4154527"/>
            <a:ext cx="71984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Monitor delivery status, lead time, and shipping cost.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776007-7E09-1987-241D-0CF5710EA32E}"/>
              </a:ext>
            </a:extLst>
          </p:cNvPr>
          <p:cNvSpPr txBox="1"/>
          <p:nvPr/>
        </p:nvSpPr>
        <p:spPr>
          <a:xfrm>
            <a:off x="3548212" y="5163684"/>
            <a:ext cx="72230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Optimize inventory levels and improve on-time delivery.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704629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2B7D497-A05D-83EA-0C1D-0E3F83039A48}"/>
              </a:ext>
            </a:extLst>
          </p:cNvPr>
          <p:cNvSpPr/>
          <p:nvPr/>
        </p:nvSpPr>
        <p:spPr>
          <a:xfrm>
            <a:off x="1371600" y="1047135"/>
            <a:ext cx="9473104" cy="1190660"/>
          </a:xfrm>
          <a:prstGeom prst="rect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31BEE-B25E-E149-5E60-A1CF9CFA3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Bahnschrift SemiBold Condensed" panose="020B0502040204020203" pitchFamily="34" charset="0"/>
              </a:rPr>
              <a:t>Data Sources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2A8E176-5DCE-ECB3-493D-CD45A7EA2490}"/>
              </a:ext>
            </a:extLst>
          </p:cNvPr>
          <p:cNvSpPr/>
          <p:nvPr/>
        </p:nvSpPr>
        <p:spPr>
          <a:xfrm>
            <a:off x="1725561" y="2781436"/>
            <a:ext cx="1150374" cy="11268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482FDF4-846E-9464-1C8A-CF832FCF6CFE}"/>
              </a:ext>
            </a:extLst>
          </p:cNvPr>
          <p:cNvSpPr/>
          <p:nvPr/>
        </p:nvSpPr>
        <p:spPr>
          <a:xfrm>
            <a:off x="6213986" y="4500168"/>
            <a:ext cx="1150374" cy="11268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21FC77-09A6-1A62-C187-1948BC01E278}"/>
              </a:ext>
            </a:extLst>
          </p:cNvPr>
          <p:cNvSpPr/>
          <p:nvPr/>
        </p:nvSpPr>
        <p:spPr>
          <a:xfrm>
            <a:off x="1769806" y="4556160"/>
            <a:ext cx="1150374" cy="11268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0B74085-F675-DC46-BE95-75CD62F5EB1D}"/>
              </a:ext>
            </a:extLst>
          </p:cNvPr>
          <p:cNvSpPr/>
          <p:nvPr/>
        </p:nvSpPr>
        <p:spPr>
          <a:xfrm>
            <a:off x="6213986" y="2829640"/>
            <a:ext cx="1150374" cy="11268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74" name="Picture 2" descr="Box ">
            <a:extLst>
              <a:ext uri="{FF2B5EF4-FFF2-40B4-BE49-F238E27FC236}">
                <a16:creationId xmlns:a16="http://schemas.microsoft.com/office/drawing/2014/main" id="{32D6CB90-5835-E62E-9F4E-8157FBC24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993" y="3008124"/>
            <a:ext cx="673510" cy="673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arehouse ">
            <a:extLst>
              <a:ext uri="{FF2B5EF4-FFF2-40B4-BE49-F238E27FC236}">
                <a16:creationId xmlns:a16="http://schemas.microsoft.com/office/drawing/2014/main" id="{3D14148D-7C16-B155-74D1-3A3559702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056" y="2913762"/>
            <a:ext cx="862234" cy="862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Delivery ">
            <a:extLst>
              <a:ext uri="{FF2B5EF4-FFF2-40B4-BE49-F238E27FC236}">
                <a16:creationId xmlns:a16="http://schemas.microsoft.com/office/drawing/2014/main" id="{72B62987-5448-EE2A-DD39-82458F035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993" y="4705146"/>
            <a:ext cx="828913" cy="82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Clipboard ">
            <a:extLst>
              <a:ext uri="{FF2B5EF4-FFF2-40B4-BE49-F238E27FC236}">
                <a16:creationId xmlns:a16="http://schemas.microsoft.com/office/drawing/2014/main" id="{322CE4B6-1B53-D61C-A58B-A8C485D69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7254" y="4730136"/>
            <a:ext cx="743838" cy="74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32DC8C-74DB-AFCF-6BA1-D2E81F2EB25B}"/>
              </a:ext>
            </a:extLst>
          </p:cNvPr>
          <p:cNvSpPr txBox="1"/>
          <p:nvPr/>
        </p:nvSpPr>
        <p:spPr>
          <a:xfrm>
            <a:off x="2965931" y="2985046"/>
            <a:ext cx="33036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Order Data</a:t>
            </a:r>
            <a:br>
              <a:rPr lang="en-US" b="1" dirty="0"/>
            </a:br>
            <a:r>
              <a:rPr lang="en-US" dirty="0"/>
              <a:t>(Order ID, Date, </a:t>
            </a:r>
            <a:r>
              <a:rPr lang="en-US" dirty="0">
                <a:latin typeface="+mj-lt"/>
              </a:rPr>
              <a:t>Quantity</a:t>
            </a:r>
            <a:r>
              <a:rPr lang="en-US" dirty="0"/>
              <a:t>, Sales)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208C1E-F161-C3CE-14A7-94E1DA0320B4}"/>
              </a:ext>
            </a:extLst>
          </p:cNvPr>
          <p:cNvSpPr txBox="1"/>
          <p:nvPr/>
        </p:nvSpPr>
        <p:spPr>
          <a:xfrm>
            <a:off x="7607434" y="3004526"/>
            <a:ext cx="323727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Supplier &amp; Warehouse Data</a:t>
            </a:r>
            <a:br>
              <a:rPr lang="en-US" dirty="0"/>
            </a:br>
            <a:r>
              <a:rPr lang="en-US" dirty="0"/>
              <a:t>(Supplier, Warehouse, Region)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8A1224-826F-0ED4-6EEB-877C842048FD}"/>
              </a:ext>
            </a:extLst>
          </p:cNvPr>
          <p:cNvSpPr txBox="1"/>
          <p:nvPr/>
        </p:nvSpPr>
        <p:spPr>
          <a:xfrm>
            <a:off x="2987094" y="4634407"/>
            <a:ext cx="2990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Shipping &amp; Delivery Data</a:t>
            </a:r>
            <a:br>
              <a:rPr lang="en-US" dirty="0"/>
            </a:br>
            <a:r>
              <a:rPr lang="en-US" dirty="0"/>
              <a:t>(Ship Mode, Carrier, Delivery Status)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BFC540-4E5F-05AC-D140-EE19A7CC026F}"/>
              </a:ext>
            </a:extLst>
          </p:cNvPr>
          <p:cNvSpPr txBox="1"/>
          <p:nvPr/>
        </p:nvSpPr>
        <p:spPr>
          <a:xfrm>
            <a:off x="7671142" y="4634407"/>
            <a:ext cx="2825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Product &amp; Inventory Data</a:t>
            </a:r>
            <a:br>
              <a:rPr lang="en-US" dirty="0"/>
            </a:br>
            <a:r>
              <a:rPr lang="en-US" dirty="0"/>
              <a:t>(Product, Category, Inventory, Stock)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2681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C4236-C985-EDDC-489B-6614C2610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293" y="982132"/>
            <a:ext cx="8571269" cy="130386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Solved KPIs – Order &amp; Delivery Metrics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2258F4-DB4B-70E0-E123-F11816A0C159}"/>
              </a:ext>
            </a:extLst>
          </p:cNvPr>
          <p:cNvSpPr txBox="1"/>
          <p:nvPr/>
        </p:nvSpPr>
        <p:spPr>
          <a:xfrm>
            <a:off x="1626011" y="2122226"/>
            <a:ext cx="2886996" cy="2776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Orders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On-Time Delivery %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Delay Days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Fill Rate %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7AEB96-C076-401F-7753-992160BA2311}"/>
              </a:ext>
            </a:extLst>
          </p:cNvPr>
          <p:cNvSpPr/>
          <p:nvPr/>
        </p:nvSpPr>
        <p:spPr>
          <a:xfrm>
            <a:off x="7049729" y="2684206"/>
            <a:ext cx="3185652" cy="24187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126" name="Picture 6" descr="Bar chart ">
            <a:extLst>
              <a:ext uri="{FF2B5EF4-FFF2-40B4-BE49-F238E27FC236}">
                <a16:creationId xmlns:a16="http://schemas.microsoft.com/office/drawing/2014/main" id="{3DDEB7C5-FC14-D748-9B93-C0AD8BCC6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1484" y="2920181"/>
            <a:ext cx="2785910" cy="197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784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FB6C5-E0C6-B8F6-C923-61B3EE844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279192" cy="130386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Solved KPIs – Supplier &amp; Logistics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E152C7-9873-DE81-FD52-D6FEA6A0A940}"/>
              </a:ext>
            </a:extLst>
          </p:cNvPr>
          <p:cNvSpPr/>
          <p:nvPr/>
        </p:nvSpPr>
        <p:spPr>
          <a:xfrm>
            <a:off x="1401097" y="2713703"/>
            <a:ext cx="9495501" cy="7152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solidFill>
                  <a:schemeClr val="tx1"/>
                </a:solidFill>
              </a:rPr>
              <a:t>                    Supplier Reliability 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C7DA44-A0B6-1AC7-55A5-2150BBFE6483}"/>
              </a:ext>
            </a:extLst>
          </p:cNvPr>
          <p:cNvSpPr/>
          <p:nvPr/>
        </p:nvSpPr>
        <p:spPr>
          <a:xfrm>
            <a:off x="1401097" y="3522116"/>
            <a:ext cx="9495501" cy="7152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                      Average Lead Time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64AA4D-4E5F-237B-F3DE-A39F9B71F718}"/>
              </a:ext>
            </a:extLst>
          </p:cNvPr>
          <p:cNvSpPr/>
          <p:nvPr/>
        </p:nvSpPr>
        <p:spPr>
          <a:xfrm>
            <a:off x="1401097" y="4335958"/>
            <a:ext cx="9495501" cy="7152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                       Shipping Cost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BBB364-8ECB-27DA-D8D7-8BFF8A237425}"/>
              </a:ext>
            </a:extLst>
          </p:cNvPr>
          <p:cNvSpPr/>
          <p:nvPr/>
        </p:nvSpPr>
        <p:spPr>
          <a:xfrm>
            <a:off x="1401097" y="5172861"/>
            <a:ext cx="9495501" cy="7152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                       Delivery Delay by Carrier</a:t>
            </a:r>
          </a:p>
        </p:txBody>
      </p:sp>
      <p:pic>
        <p:nvPicPr>
          <p:cNvPr id="6147" name="Picture 3" descr="Handshake ">
            <a:extLst>
              <a:ext uri="{FF2B5EF4-FFF2-40B4-BE49-F238E27FC236}">
                <a16:creationId xmlns:a16="http://schemas.microsoft.com/office/drawing/2014/main" id="{226A561A-5B36-3B56-CCF2-C946E705F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865" y="2909588"/>
            <a:ext cx="558386" cy="41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9" name="Picture 5" descr="Sand clock ">
            <a:extLst>
              <a:ext uri="{FF2B5EF4-FFF2-40B4-BE49-F238E27FC236}">
                <a16:creationId xmlns:a16="http://schemas.microsoft.com/office/drawing/2014/main" id="{890443F0-B360-F400-934D-AE01F1984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23" y="3671880"/>
            <a:ext cx="575487" cy="369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Delivery ">
            <a:extLst>
              <a:ext uri="{FF2B5EF4-FFF2-40B4-BE49-F238E27FC236}">
                <a16:creationId xmlns:a16="http://schemas.microsoft.com/office/drawing/2014/main" id="{0FD731CF-072E-EC74-57D8-6CF49DB89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236" y="4463111"/>
            <a:ext cx="494015" cy="46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Delivery ">
            <a:extLst>
              <a:ext uri="{FF2B5EF4-FFF2-40B4-BE49-F238E27FC236}">
                <a16:creationId xmlns:a16="http://schemas.microsoft.com/office/drawing/2014/main" id="{9C7BB47A-EC39-06E6-8DC0-B995DE37E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236" y="5385348"/>
            <a:ext cx="525660" cy="49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7217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2773B-712F-FCE2-C244-4F12B76C5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Solved KPIs – Inventory Metrics</a:t>
            </a:r>
            <a:br>
              <a:rPr lang="en-US" b="1" dirty="0"/>
            </a:br>
            <a:r>
              <a:rPr lang="en-US" b="1" dirty="0"/>
              <a:t>Total Inventory</a:t>
            </a:r>
            <a:br>
              <a:rPr lang="en-US" b="1" dirty="0"/>
            </a:br>
            <a:endParaRPr lang="en-IN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A9BCAD-51AE-1F95-4FA7-EBB1457CC045}"/>
              </a:ext>
            </a:extLst>
          </p:cNvPr>
          <p:cNvSpPr/>
          <p:nvPr/>
        </p:nvSpPr>
        <p:spPr>
          <a:xfrm>
            <a:off x="1504335" y="2544097"/>
            <a:ext cx="9276736" cy="8849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5CF123-0B4C-3A6B-6F01-AEBA23B5433C}"/>
              </a:ext>
            </a:extLst>
          </p:cNvPr>
          <p:cNvSpPr/>
          <p:nvPr/>
        </p:nvSpPr>
        <p:spPr>
          <a:xfrm>
            <a:off x="1504335" y="3687098"/>
            <a:ext cx="9276736" cy="8849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9D894E-7677-41F1-2782-8F4810693C5C}"/>
              </a:ext>
            </a:extLst>
          </p:cNvPr>
          <p:cNvSpPr/>
          <p:nvPr/>
        </p:nvSpPr>
        <p:spPr>
          <a:xfrm>
            <a:off x="1504335" y="4983591"/>
            <a:ext cx="9276736" cy="8849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378310-D2CB-3BFB-390C-33C75C615356}"/>
              </a:ext>
            </a:extLst>
          </p:cNvPr>
          <p:cNvSpPr/>
          <p:nvPr/>
        </p:nvSpPr>
        <p:spPr>
          <a:xfrm>
            <a:off x="1804219" y="2620843"/>
            <a:ext cx="1056968" cy="7314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129503-5AC3-5E2F-53DE-C3D9B8FA2570}"/>
              </a:ext>
            </a:extLst>
          </p:cNvPr>
          <p:cNvSpPr/>
          <p:nvPr/>
        </p:nvSpPr>
        <p:spPr>
          <a:xfrm>
            <a:off x="1804219" y="3763844"/>
            <a:ext cx="1056968" cy="7314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E4587B-F78C-B281-99A8-600C5AEB843B}"/>
              </a:ext>
            </a:extLst>
          </p:cNvPr>
          <p:cNvSpPr/>
          <p:nvPr/>
        </p:nvSpPr>
        <p:spPr>
          <a:xfrm>
            <a:off x="1804219" y="5060337"/>
            <a:ext cx="1056968" cy="7314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194" name="Picture 2" descr="Box ">
            <a:extLst>
              <a:ext uri="{FF2B5EF4-FFF2-40B4-BE49-F238E27FC236}">
                <a16:creationId xmlns:a16="http://schemas.microsoft.com/office/drawing/2014/main" id="{CBDF3C55-0ED0-40CF-AEBA-16E5D291B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903" y="2758769"/>
            <a:ext cx="609600" cy="532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3EF4BE1-7B57-B36D-D16A-D405FD74FFC3}"/>
              </a:ext>
            </a:extLst>
          </p:cNvPr>
          <p:cNvSpPr txBox="1"/>
          <p:nvPr/>
        </p:nvSpPr>
        <p:spPr>
          <a:xfrm>
            <a:off x="3084871" y="2794362"/>
            <a:ext cx="2662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Total Inventory</a:t>
            </a:r>
          </a:p>
        </p:txBody>
      </p:sp>
      <p:pic>
        <p:nvPicPr>
          <p:cNvPr id="8196" name="Picture 4" descr="File ">
            <a:extLst>
              <a:ext uri="{FF2B5EF4-FFF2-40B4-BE49-F238E27FC236}">
                <a16:creationId xmlns:a16="http://schemas.microsoft.com/office/drawing/2014/main" id="{6FE1624C-DC81-8211-500A-D39618694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903" y="3856704"/>
            <a:ext cx="545689" cy="54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2888E0B-AA65-B67B-1CA8-60B0B5E2B0FC}"/>
              </a:ext>
            </a:extLst>
          </p:cNvPr>
          <p:cNvSpPr txBox="1"/>
          <p:nvPr/>
        </p:nvSpPr>
        <p:spPr>
          <a:xfrm>
            <a:off x="2637503" y="3835104"/>
            <a:ext cx="4031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Average Inventory</a:t>
            </a:r>
          </a:p>
        </p:txBody>
      </p:sp>
      <p:pic>
        <p:nvPicPr>
          <p:cNvPr id="8198" name="Picture 6" descr="Calendar ">
            <a:extLst>
              <a:ext uri="{FF2B5EF4-FFF2-40B4-BE49-F238E27FC236}">
                <a16:creationId xmlns:a16="http://schemas.microsoft.com/office/drawing/2014/main" id="{F614E741-7454-EBF8-B8B4-7B16919E7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903" y="5121242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B9ED324-0671-F580-F5E6-566C5511D1D3}"/>
              </a:ext>
            </a:extLst>
          </p:cNvPr>
          <p:cNvSpPr txBox="1"/>
          <p:nvPr/>
        </p:nvSpPr>
        <p:spPr>
          <a:xfrm>
            <a:off x="3245873" y="5207622"/>
            <a:ext cx="28144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Days of supply</a:t>
            </a:r>
          </a:p>
        </p:txBody>
      </p:sp>
    </p:spTree>
    <p:extLst>
      <p:ext uri="{BB962C8B-B14F-4D97-AF65-F5344CB8AC3E}">
        <p14:creationId xmlns:p14="http://schemas.microsoft.com/office/powerpoint/2010/main" val="862962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F8B37-91D0-14EF-A964-1073C3C01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610" y="1011629"/>
            <a:ext cx="8482779" cy="130386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Solved KPIs – Revenue &amp; Profit Metrics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F1665B-D9DB-C111-B960-A6C664AE6471}"/>
              </a:ext>
            </a:extLst>
          </p:cNvPr>
          <p:cNvSpPr txBox="1"/>
          <p:nvPr/>
        </p:nvSpPr>
        <p:spPr>
          <a:xfrm>
            <a:off x="2333932" y="2425947"/>
            <a:ext cx="6113206" cy="3420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sz="2800" b="1" dirty="0"/>
              <a:t>💰 Total Revenue</a:t>
            </a:r>
          </a:p>
          <a:p>
            <a:pPr>
              <a:lnSpc>
                <a:spcPct val="200000"/>
              </a:lnSpc>
              <a:buNone/>
            </a:pPr>
            <a:r>
              <a:rPr lang="en-US" sz="2800" b="1" dirty="0"/>
              <a:t>💵 Gross Profit</a:t>
            </a:r>
          </a:p>
          <a:p>
            <a:pPr>
              <a:lnSpc>
                <a:spcPct val="200000"/>
              </a:lnSpc>
              <a:buNone/>
            </a:pPr>
            <a:r>
              <a:rPr lang="en-US" sz="2800" b="1" dirty="0"/>
              <a:t>📈 Gross Margin %</a:t>
            </a:r>
          </a:p>
          <a:p>
            <a:pPr>
              <a:lnSpc>
                <a:spcPct val="200000"/>
              </a:lnSpc>
              <a:buNone/>
            </a:pPr>
            <a:r>
              <a:rPr lang="en-US" sz="2800" b="1" dirty="0"/>
              <a:t>🌍 Revenue by Region</a:t>
            </a:r>
          </a:p>
        </p:txBody>
      </p:sp>
    </p:spTree>
    <p:extLst>
      <p:ext uri="{BB962C8B-B14F-4D97-AF65-F5344CB8AC3E}">
        <p14:creationId xmlns:p14="http://schemas.microsoft.com/office/powerpoint/2010/main" val="4091511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hart&#10;&#10;AI-generated content may be incorrect.">
            <a:extLst>
              <a:ext uri="{FF2B5EF4-FFF2-40B4-BE49-F238E27FC236}">
                <a16:creationId xmlns:a16="http://schemas.microsoft.com/office/drawing/2014/main" id="{9625AAF3-CA8D-0DEB-BA81-E847D0318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6" y="1238865"/>
            <a:ext cx="10648336" cy="45809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FAF5B9-7820-C434-4EFA-DCC55C6F572A}"/>
              </a:ext>
            </a:extLst>
          </p:cNvPr>
          <p:cNvSpPr txBox="1"/>
          <p:nvPr/>
        </p:nvSpPr>
        <p:spPr>
          <a:xfrm>
            <a:off x="2662082" y="654694"/>
            <a:ext cx="6009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B050"/>
                </a:solidFill>
              </a:rPr>
              <a:t>Excel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C82B4-4E95-DFB9-B909-7CDD831F5059}"/>
              </a:ext>
            </a:extLst>
          </p:cNvPr>
          <p:cNvSpPr txBox="1"/>
          <p:nvPr/>
        </p:nvSpPr>
        <p:spPr>
          <a:xfrm>
            <a:off x="1585450" y="5833974"/>
            <a:ext cx="9239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Used for quick summaries, pivot tables,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3144885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data&#10;&#10;AI-generated content may be incorrect.">
            <a:extLst>
              <a:ext uri="{FF2B5EF4-FFF2-40B4-BE49-F238E27FC236}">
                <a16:creationId xmlns:a16="http://schemas.microsoft.com/office/drawing/2014/main" id="{050E35CA-6567-CA89-C2D4-0A0B5E4C0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58" y="1194619"/>
            <a:ext cx="10530348" cy="46752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083941-A393-F0BB-1E3B-4F2DA582359E}"/>
              </a:ext>
            </a:extLst>
          </p:cNvPr>
          <p:cNvSpPr txBox="1"/>
          <p:nvPr/>
        </p:nvSpPr>
        <p:spPr>
          <a:xfrm>
            <a:off x="4151671" y="604685"/>
            <a:ext cx="2927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B050"/>
                </a:solidFill>
              </a:rPr>
              <a:t>Power BI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10B4C0-6C17-C7DF-75FA-A6D098677AA4}"/>
              </a:ext>
            </a:extLst>
          </p:cNvPr>
          <p:cNvSpPr txBox="1"/>
          <p:nvPr/>
        </p:nvSpPr>
        <p:spPr>
          <a:xfrm>
            <a:off x="2647335" y="5883983"/>
            <a:ext cx="6629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Used for interactive visuals, KPI comparison, and trend analysis</a:t>
            </a:r>
          </a:p>
        </p:txBody>
      </p:sp>
    </p:spTree>
    <p:extLst>
      <p:ext uri="{BB962C8B-B14F-4D97-AF65-F5344CB8AC3E}">
        <p14:creationId xmlns:p14="http://schemas.microsoft.com/office/powerpoint/2010/main" val="569634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FD48AF-F9F5-695D-2BCD-D8EE5A062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97" y="1150374"/>
            <a:ext cx="10801655" cy="45572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31071F-D202-B6B9-915C-3F14A611055B}"/>
              </a:ext>
            </a:extLst>
          </p:cNvPr>
          <p:cNvSpPr txBox="1"/>
          <p:nvPr/>
        </p:nvSpPr>
        <p:spPr>
          <a:xfrm>
            <a:off x="2381864" y="688709"/>
            <a:ext cx="6850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B050"/>
                </a:solidFill>
              </a:rPr>
              <a:t>Tableau Dashboard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3A796E-9BF9-78CF-F06E-95956B6DCE55}"/>
              </a:ext>
            </a:extLst>
          </p:cNvPr>
          <p:cNvSpPr txBox="1"/>
          <p:nvPr/>
        </p:nvSpPr>
        <p:spPr>
          <a:xfrm>
            <a:off x="2381864" y="5799959"/>
            <a:ext cx="7816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Used for advanced visual storytelling and route analysis</a:t>
            </a:r>
          </a:p>
        </p:txBody>
      </p:sp>
    </p:spTree>
    <p:extLst>
      <p:ext uri="{BB962C8B-B14F-4D97-AF65-F5344CB8AC3E}">
        <p14:creationId xmlns:p14="http://schemas.microsoft.com/office/powerpoint/2010/main" val="3791135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EA8789-B74F-BC11-AF06-1AF0CE399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990" y="1238866"/>
            <a:ext cx="4810149" cy="237449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CF3D1E-4734-BA00-93B4-D31CED731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855" y="1238866"/>
            <a:ext cx="5525271" cy="237449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01F39C-039F-3184-C8EF-6A4FAF096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991" y="3716594"/>
            <a:ext cx="4810149" cy="2109019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71C95C-3603-517B-60D7-163C7BD371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7855" y="3716595"/>
            <a:ext cx="5525271" cy="20057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256CCA-C146-1484-8AFD-1DF220120228}"/>
              </a:ext>
            </a:extLst>
          </p:cNvPr>
          <p:cNvSpPr txBox="1"/>
          <p:nvPr/>
        </p:nvSpPr>
        <p:spPr>
          <a:xfrm>
            <a:off x="4159158" y="673960"/>
            <a:ext cx="2344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00B050"/>
                </a:solidFill>
              </a:rPr>
              <a:t>SQL Work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6E86FF-63B6-75F9-8F63-407686BEB9E0}"/>
              </a:ext>
            </a:extLst>
          </p:cNvPr>
          <p:cNvSpPr txBox="1"/>
          <p:nvPr/>
        </p:nvSpPr>
        <p:spPr>
          <a:xfrm>
            <a:off x="2050026" y="5855110"/>
            <a:ext cx="7226709" cy="468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b="1" dirty="0"/>
              <a:t>Used for data extraction, transformation, and KPI calculation</a:t>
            </a:r>
          </a:p>
        </p:txBody>
      </p:sp>
    </p:spTree>
    <p:extLst>
      <p:ext uri="{BB962C8B-B14F-4D97-AF65-F5344CB8AC3E}">
        <p14:creationId xmlns:p14="http://schemas.microsoft.com/office/powerpoint/2010/main" val="95026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750CA9-9512-DEE9-9874-BA20A6F7D317}"/>
              </a:ext>
            </a:extLst>
          </p:cNvPr>
          <p:cNvSpPr/>
          <p:nvPr/>
        </p:nvSpPr>
        <p:spPr>
          <a:xfrm>
            <a:off x="1295402" y="1120877"/>
            <a:ext cx="9601196" cy="1165122"/>
          </a:xfrm>
          <a:prstGeom prst="rect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358ABA-6315-2F4B-6F67-69CFCF12C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Key insights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81367-2896-0197-C4DB-BFF4A8D0F134}"/>
              </a:ext>
            </a:extLst>
          </p:cNvPr>
          <p:cNvSpPr txBox="1"/>
          <p:nvPr/>
        </p:nvSpPr>
        <p:spPr>
          <a:xfrm>
            <a:off x="1295402" y="2285999"/>
            <a:ext cx="9601196" cy="3742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000" b="1" dirty="0"/>
              <a:t>Revenue:</a:t>
            </a:r>
            <a:r>
              <a:rPr lang="en-US" sz="2000" dirty="0"/>
              <a:t> Total Revenue reached </a:t>
            </a:r>
            <a:r>
              <a:rPr lang="en-US" sz="2000" b="1" dirty="0"/>
              <a:t>194.0M</a:t>
            </a:r>
            <a:r>
              <a:rPr lang="en-US" sz="2000" dirty="0"/>
              <a:t> with a </a:t>
            </a:r>
            <a:r>
              <a:rPr lang="en-US" sz="2000" b="1" dirty="0"/>
              <a:t>36.17% Gross Margin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 </a:t>
            </a:r>
            <a:r>
              <a:rPr lang="en-US" sz="2000" b="1" dirty="0"/>
              <a:t>Delivery:</a:t>
            </a:r>
            <a:r>
              <a:rPr lang="en-US" sz="2000" dirty="0"/>
              <a:t> On-Time Delivery is </a:t>
            </a:r>
            <a:r>
              <a:rPr lang="en-US" sz="2000" b="1" dirty="0"/>
              <a:t>66.03%</a:t>
            </a:r>
            <a:r>
              <a:rPr lang="en-US" sz="2000" dirty="0"/>
              <a:t>, indicating room for improvement.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 </a:t>
            </a:r>
            <a:r>
              <a:rPr lang="en-US" sz="2000" b="1" dirty="0"/>
              <a:t>Inventory:</a:t>
            </a:r>
            <a:r>
              <a:rPr lang="en-US" sz="2000" dirty="0"/>
              <a:t> Fill Rate of </a:t>
            </a:r>
            <a:r>
              <a:rPr lang="en-US" sz="2000" b="1" dirty="0"/>
              <a:t>96.78%</a:t>
            </a:r>
            <a:r>
              <a:rPr lang="en-US" sz="2000" dirty="0"/>
              <a:t> shows strong inventory availability.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 </a:t>
            </a:r>
            <a:r>
              <a:rPr lang="en-US" sz="2000" b="1" dirty="0"/>
              <a:t>Region:</a:t>
            </a:r>
            <a:r>
              <a:rPr lang="en-US" sz="2000" dirty="0"/>
              <a:t> </a:t>
            </a:r>
            <a:r>
              <a:rPr lang="en-US" sz="2000" b="1" dirty="0"/>
              <a:t>Asia</a:t>
            </a:r>
            <a:r>
              <a:rPr lang="en-US" sz="2000" dirty="0"/>
              <a:t> generated the highest revenue and recorded the highest number of delayed orders.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 </a:t>
            </a:r>
            <a:r>
              <a:rPr lang="en-US" sz="2000" b="1" dirty="0"/>
              <a:t>Shipping:</a:t>
            </a:r>
            <a:r>
              <a:rPr lang="en-US" sz="2000" dirty="0"/>
              <a:t> </a:t>
            </a:r>
            <a:r>
              <a:rPr lang="en-US" sz="2000" b="1" dirty="0"/>
              <a:t>Air</a:t>
            </a:r>
            <a:r>
              <a:rPr lang="en-US" sz="2000" dirty="0"/>
              <a:t> shipping has the highest transportation cost among all shipping modes.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Warehouse:</a:t>
            </a:r>
            <a:r>
              <a:rPr lang="en-US" sz="2000" dirty="0"/>
              <a:t> A few warehouses hold significantly more inventory than others, indicating an opportunity to optimize stock distribution.</a:t>
            </a:r>
          </a:p>
        </p:txBody>
      </p:sp>
    </p:spTree>
    <p:extLst>
      <p:ext uri="{BB962C8B-B14F-4D97-AF65-F5344CB8AC3E}">
        <p14:creationId xmlns:p14="http://schemas.microsoft.com/office/powerpoint/2010/main" val="538083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97FD4B-04B5-AD60-7CA2-3226D888CFC1}"/>
              </a:ext>
            </a:extLst>
          </p:cNvPr>
          <p:cNvSpPr/>
          <p:nvPr/>
        </p:nvSpPr>
        <p:spPr>
          <a:xfrm>
            <a:off x="1460090" y="1194619"/>
            <a:ext cx="9436508" cy="1091380"/>
          </a:xfrm>
          <a:prstGeom prst="rect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F606E7-B22E-23D7-0AD4-5E2E23FAB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6D6490-5D0F-F9D7-7ABA-10C8E2028B27}"/>
              </a:ext>
            </a:extLst>
          </p:cNvPr>
          <p:cNvSpPr txBox="1"/>
          <p:nvPr/>
        </p:nvSpPr>
        <p:spPr>
          <a:xfrm>
            <a:off x="1295402" y="2499284"/>
            <a:ext cx="892523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400" b="1" dirty="0"/>
              <a:t>Improve On-Time Delivery</a:t>
            </a:r>
            <a:r>
              <a:rPr lang="en-US" sz="2400" dirty="0"/>
              <a:t> by optimizing delivery routes and carrier performance.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400" b="1" dirty="0"/>
              <a:t>Strengthen Supplier Performance</a:t>
            </a:r>
            <a:r>
              <a:rPr lang="en-US" sz="2400" dirty="0"/>
              <a:t> through regular monitoring and performance reviews.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400" b="1" dirty="0"/>
              <a:t>Optimize Inventory Levels</a:t>
            </a:r>
            <a:r>
              <a:rPr lang="en-US" sz="2400" dirty="0"/>
              <a:t> to reduce excess stock and prevent stockouts.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400" b="1" dirty="0"/>
              <a:t>Reduce Shipping Costs</a:t>
            </a:r>
            <a:r>
              <a:rPr lang="en-US" sz="2400" dirty="0"/>
              <a:t> by choosing cost-effective transportation modes.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Monitor KPIs Regularly</a:t>
            </a:r>
            <a:r>
              <a:rPr lang="en-US" sz="2400" dirty="0"/>
              <a:t> using interactive dashboards for faster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41908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ED7FFF8-A9D5-B3D3-7E69-E4F26624BC05}"/>
              </a:ext>
            </a:extLst>
          </p:cNvPr>
          <p:cNvSpPr/>
          <p:nvPr/>
        </p:nvSpPr>
        <p:spPr>
          <a:xfrm>
            <a:off x="1563329" y="973394"/>
            <a:ext cx="9114503" cy="1297858"/>
          </a:xfrm>
          <a:prstGeom prst="rect">
            <a:avLst/>
          </a:prstGeom>
          <a:ln w="571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CFAAFE-276A-A71F-ACF6-3BC3883D0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9982" y="973394"/>
            <a:ext cx="9601196" cy="1303867"/>
          </a:xfrm>
        </p:spPr>
        <p:txBody>
          <a:bodyPr/>
          <a:lstStyle/>
          <a:p>
            <a:r>
              <a:rPr lang="en-IN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35A658-7E2B-5555-ED00-8B5D34F27ED7}"/>
              </a:ext>
            </a:extLst>
          </p:cNvPr>
          <p:cNvSpPr txBox="1"/>
          <p:nvPr/>
        </p:nvSpPr>
        <p:spPr>
          <a:xfrm>
            <a:off x="1563329" y="2604028"/>
            <a:ext cx="8777746" cy="3280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✅ Successfully analyzed Supply Chain performance using Excel, Power BI, Python, Mysql and Tableau.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✅ Identified key insights on Revenue, Inventory, Delivery, and Supplier Performance.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✅ Built interactive dashboards to support data-driven business decisions. 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✅ Recommendations can help improve efficiency, reduce costs, and enhance customer satisfaction. </a:t>
            </a:r>
          </a:p>
        </p:txBody>
      </p:sp>
    </p:spTree>
    <p:extLst>
      <p:ext uri="{BB962C8B-B14F-4D97-AF65-F5344CB8AC3E}">
        <p14:creationId xmlns:p14="http://schemas.microsoft.com/office/powerpoint/2010/main" val="1976165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520D8-3DB2-1D14-22F9-6BCFF7BE5E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9180392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326</TotalTime>
  <Words>483</Words>
  <Application>Microsoft Office PowerPoint</Application>
  <PresentationFormat>Widescreen</PresentationFormat>
  <Paragraphs>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Bahnschrift SemiBold</vt:lpstr>
      <vt:lpstr>Bahnschrift SemiBold Condensed</vt:lpstr>
      <vt:lpstr>Bahnschrift SemiBold SemiConden</vt:lpstr>
      <vt:lpstr>Garamond</vt:lpstr>
      <vt:lpstr>Wingdings</vt:lpstr>
      <vt:lpstr>Organic</vt:lpstr>
      <vt:lpstr>Supply Chain Analytics Project</vt:lpstr>
      <vt:lpstr>PowerPoint Presentation</vt:lpstr>
      <vt:lpstr>PowerPoint Presentation</vt:lpstr>
      <vt:lpstr>Business Objective</vt:lpstr>
      <vt:lpstr>Data Sources</vt:lpstr>
      <vt:lpstr>Solved KPIs – Order &amp; Delivery Metrics</vt:lpstr>
      <vt:lpstr>Solved KPIs – Supplier &amp; Logistics Metrics</vt:lpstr>
      <vt:lpstr>Solved KPIs – Inventory Metrics Total Inventory </vt:lpstr>
      <vt:lpstr>Solved KPIs – Revenue &amp; Profit Metrics</vt:lpstr>
      <vt:lpstr>PowerPoint Presentation</vt:lpstr>
      <vt:lpstr>PowerPoint Presentation</vt:lpstr>
      <vt:lpstr>PowerPoint Presentation</vt:lpstr>
      <vt:lpstr>PowerPoint Presentation</vt:lpstr>
      <vt:lpstr>Key insights</vt:lpstr>
      <vt:lpstr>Recommendations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mallu jamadar</dc:creator>
  <cp:lastModifiedBy>mallu jamadar</cp:lastModifiedBy>
  <cp:revision>12</cp:revision>
  <dcterms:created xsi:type="dcterms:W3CDTF">2026-07-17T17:03:11Z</dcterms:created>
  <dcterms:modified xsi:type="dcterms:W3CDTF">2026-08-28T19:14:43Z</dcterms:modified>
</cp:coreProperties>
</file>